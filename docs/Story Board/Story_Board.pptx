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lfa Slab One" charset="1" panose="00000500000000000000"/>
      <p:regular r:id="rId12"/>
    </p:embeddedFont>
    <p:embeddedFont>
      <p:font typeface="Telegraf" charset="1" panose="00000500000000000000"/>
      <p:regular r:id="rId13"/>
    </p:embeddedFont>
    <p:embeddedFont>
      <p:font typeface="Caladea Bold" charset="1" panose="02040803050406030204"/>
      <p:regular r:id="rId14"/>
    </p:embeddedFont>
    <p:embeddedFont>
      <p:font typeface="Biryani Bold" charset="1" panose="00000800000000000000"/>
      <p:regular r:id="rId15"/>
    </p:embeddedFont>
    <p:embeddedFont>
      <p:font typeface="Biryani Light" charset="1" panose="00000400000000000000"/>
      <p:regular r:id="rId16"/>
    </p:embeddedFont>
    <p:embeddedFont>
      <p:font typeface="Biryani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94737" y="2566213"/>
            <a:ext cx="6789864" cy="7554787"/>
          </a:xfrm>
          <a:custGeom>
            <a:avLst/>
            <a:gdLst/>
            <a:ahLst/>
            <a:cxnLst/>
            <a:rect r="r" b="b" t="t" l="l"/>
            <a:pathLst>
              <a:path h="7554787" w="6789864">
                <a:moveTo>
                  <a:pt x="0" y="0"/>
                </a:moveTo>
                <a:lnTo>
                  <a:pt x="6789865" y="0"/>
                </a:lnTo>
                <a:lnTo>
                  <a:pt x="6789865" y="7554786"/>
                </a:lnTo>
                <a:lnTo>
                  <a:pt x="0" y="755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55980" y="4561190"/>
            <a:ext cx="353963" cy="345159"/>
            <a:chOff x="0" y="0"/>
            <a:chExt cx="93225" cy="90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25" cy="90906"/>
            </a:xfrm>
            <a:custGeom>
              <a:avLst/>
              <a:gdLst/>
              <a:ahLst/>
              <a:cxnLst/>
              <a:rect r="r" b="b" t="t" l="l"/>
              <a:pathLst>
                <a:path h="90906" w="93225">
                  <a:moveTo>
                    <a:pt x="45453" y="0"/>
                  </a:moveTo>
                  <a:lnTo>
                    <a:pt x="47772" y="0"/>
                  </a:lnTo>
                  <a:cubicBezTo>
                    <a:pt x="72875" y="0"/>
                    <a:pt x="93225" y="20350"/>
                    <a:pt x="93225" y="45453"/>
                  </a:cubicBezTo>
                  <a:lnTo>
                    <a:pt x="93225" y="45453"/>
                  </a:lnTo>
                  <a:cubicBezTo>
                    <a:pt x="93225" y="57508"/>
                    <a:pt x="88436" y="69069"/>
                    <a:pt x="79912" y="77593"/>
                  </a:cubicBezTo>
                  <a:cubicBezTo>
                    <a:pt x="71388" y="86117"/>
                    <a:pt x="59827" y="90906"/>
                    <a:pt x="47772" y="90906"/>
                  </a:cubicBezTo>
                  <a:lnTo>
                    <a:pt x="45453" y="90906"/>
                  </a:lnTo>
                  <a:cubicBezTo>
                    <a:pt x="33398" y="90906"/>
                    <a:pt x="21837" y="86117"/>
                    <a:pt x="13313" y="77593"/>
                  </a:cubicBezTo>
                  <a:cubicBezTo>
                    <a:pt x="4789" y="69069"/>
                    <a:pt x="0" y="57508"/>
                    <a:pt x="0" y="45453"/>
                  </a:cubicBezTo>
                  <a:lnTo>
                    <a:pt x="0" y="45453"/>
                  </a:lnTo>
                  <a:cubicBezTo>
                    <a:pt x="0" y="33398"/>
                    <a:pt x="4789" y="21837"/>
                    <a:pt x="13313" y="13313"/>
                  </a:cubicBezTo>
                  <a:cubicBezTo>
                    <a:pt x="21837" y="4789"/>
                    <a:pt x="33398" y="0"/>
                    <a:pt x="45453" y="0"/>
                  </a:cubicBezTo>
                  <a:close/>
                </a:path>
              </a:pathLst>
            </a:custGeom>
            <a:solidFill>
              <a:srgbClr val="F2C8B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225" cy="12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09943" y="4561190"/>
            <a:ext cx="353963" cy="345159"/>
            <a:chOff x="0" y="0"/>
            <a:chExt cx="93225" cy="90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25" cy="90906"/>
            </a:xfrm>
            <a:custGeom>
              <a:avLst/>
              <a:gdLst/>
              <a:ahLst/>
              <a:cxnLst/>
              <a:rect r="r" b="b" t="t" l="l"/>
              <a:pathLst>
                <a:path h="90906" w="93225">
                  <a:moveTo>
                    <a:pt x="45453" y="0"/>
                  </a:moveTo>
                  <a:lnTo>
                    <a:pt x="47772" y="0"/>
                  </a:lnTo>
                  <a:cubicBezTo>
                    <a:pt x="72875" y="0"/>
                    <a:pt x="93225" y="20350"/>
                    <a:pt x="93225" y="45453"/>
                  </a:cubicBezTo>
                  <a:lnTo>
                    <a:pt x="93225" y="45453"/>
                  </a:lnTo>
                  <a:cubicBezTo>
                    <a:pt x="93225" y="57508"/>
                    <a:pt x="88436" y="69069"/>
                    <a:pt x="79912" y="77593"/>
                  </a:cubicBezTo>
                  <a:cubicBezTo>
                    <a:pt x="71388" y="86117"/>
                    <a:pt x="59827" y="90906"/>
                    <a:pt x="47772" y="90906"/>
                  </a:cubicBezTo>
                  <a:lnTo>
                    <a:pt x="45453" y="90906"/>
                  </a:lnTo>
                  <a:cubicBezTo>
                    <a:pt x="33398" y="90906"/>
                    <a:pt x="21837" y="86117"/>
                    <a:pt x="13313" y="77593"/>
                  </a:cubicBezTo>
                  <a:cubicBezTo>
                    <a:pt x="4789" y="69069"/>
                    <a:pt x="0" y="57508"/>
                    <a:pt x="0" y="45453"/>
                  </a:cubicBezTo>
                  <a:lnTo>
                    <a:pt x="0" y="45453"/>
                  </a:lnTo>
                  <a:cubicBezTo>
                    <a:pt x="0" y="33398"/>
                    <a:pt x="4789" y="21837"/>
                    <a:pt x="13313" y="13313"/>
                  </a:cubicBezTo>
                  <a:cubicBezTo>
                    <a:pt x="21837" y="4789"/>
                    <a:pt x="33398" y="0"/>
                    <a:pt x="45453" y="0"/>
                  </a:cubicBezTo>
                  <a:close/>
                </a:path>
              </a:pathLst>
            </a:custGeom>
            <a:solidFill>
              <a:srgbClr val="F2C8B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225" cy="12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81876" y="7582897"/>
            <a:ext cx="2804726" cy="2202985"/>
          </a:xfrm>
          <a:custGeom>
            <a:avLst/>
            <a:gdLst/>
            <a:ahLst/>
            <a:cxnLst/>
            <a:rect r="r" b="b" t="t" l="l"/>
            <a:pathLst>
              <a:path h="2202985" w="2804726">
                <a:moveTo>
                  <a:pt x="0" y="0"/>
                </a:moveTo>
                <a:lnTo>
                  <a:pt x="2804725" y="0"/>
                </a:lnTo>
                <a:lnTo>
                  <a:pt x="2804725" y="2202985"/>
                </a:lnTo>
                <a:lnTo>
                  <a:pt x="0" y="22029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6550" y="464286"/>
            <a:ext cx="1360939" cy="1757033"/>
          </a:xfrm>
          <a:custGeom>
            <a:avLst/>
            <a:gdLst/>
            <a:ahLst/>
            <a:cxnLst/>
            <a:rect r="r" b="b" t="t" l="l"/>
            <a:pathLst>
              <a:path h="1757033" w="1360939">
                <a:moveTo>
                  <a:pt x="0" y="0"/>
                </a:moveTo>
                <a:lnTo>
                  <a:pt x="1360939" y="0"/>
                </a:lnTo>
                <a:lnTo>
                  <a:pt x="1360939" y="1757034"/>
                </a:lnTo>
                <a:lnTo>
                  <a:pt x="0" y="17570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07491" y="771220"/>
            <a:ext cx="13010454" cy="8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0"/>
              </a:lnSpc>
            </a:pPr>
            <a:r>
              <a:rPr lang="en-US" sz="6190">
                <a:solidFill>
                  <a:srgbClr val="597990"/>
                </a:solidFill>
                <a:latin typeface="Alfa Slab One"/>
                <a:ea typeface="Alfa Slab One"/>
                <a:cs typeface="Alfa Slab One"/>
                <a:sym typeface="Alfa Slab One"/>
              </a:rPr>
              <a:t>Medical </a:t>
            </a:r>
            <a:r>
              <a:rPr lang="en-US" sz="6190">
                <a:solidFill>
                  <a:srgbClr val="597990"/>
                </a:solidFill>
                <a:latin typeface="Alfa Slab One"/>
                <a:ea typeface="Alfa Slab One"/>
                <a:cs typeface="Alfa Slab One"/>
                <a:sym typeface="Alfa Slab One"/>
              </a:rPr>
              <a:t>AI Reviewer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7491" y="3812952"/>
            <a:ext cx="5619562" cy="27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97"/>
              </a:lnSpc>
            </a:pPr>
            <a:r>
              <a:rPr lang="en-US" sz="3357" spc="-67">
                <a:solidFill>
                  <a:srgbClr val="759AAD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3357" spc="-67">
                <a:solidFill>
                  <a:srgbClr val="759AAD"/>
                </a:solidFill>
                <a:latin typeface="Telegraf"/>
                <a:ea typeface="Telegraf"/>
                <a:cs typeface="Telegraf"/>
                <a:sym typeface="Telegraf"/>
              </a:rPr>
              <a:t>eads the record, retrieves the evidence for each claim item, flags discrepancies, and returns a cited summary — every line traceable to a page.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51609" y="8909396"/>
            <a:ext cx="6530348" cy="3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2"/>
              </a:lnSpc>
              <a:spcBef>
                <a:spcPct val="0"/>
              </a:spcBef>
            </a:pPr>
            <a:r>
              <a:rPr lang="en-US" b="true" sz="1973" strike="noStrike" u="none">
                <a:solidFill>
                  <a:srgbClr val="597990"/>
                </a:solidFill>
                <a:latin typeface="Caladea Bold"/>
                <a:ea typeface="Caladea Bold"/>
                <a:cs typeface="Caladea Bold"/>
                <a:sym typeface="Caladea Bold"/>
              </a:rPr>
              <a:t>Created by </a:t>
            </a:r>
            <a:r>
              <a:rPr lang="en-US" b="true" sz="1973" strike="noStrike" u="none">
                <a:solidFill>
                  <a:srgbClr val="597990"/>
                </a:solidFill>
                <a:latin typeface="Caladea Bold"/>
                <a:ea typeface="Caladea Bold"/>
                <a:cs typeface="Caladea Bold"/>
                <a:sym typeface="Caladea Bold"/>
              </a:rPr>
              <a:t>Shirisha Dhannini &amp; Kapil Suthraye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5334" y="3101218"/>
            <a:ext cx="5834178" cy="5834178"/>
          </a:xfrm>
          <a:custGeom>
            <a:avLst/>
            <a:gdLst/>
            <a:ahLst/>
            <a:cxnLst/>
            <a:rect r="r" b="b" t="t" l="l"/>
            <a:pathLst>
              <a:path h="5834178" w="5834178">
                <a:moveTo>
                  <a:pt x="0" y="0"/>
                </a:moveTo>
                <a:lnTo>
                  <a:pt x="5834178" y="0"/>
                </a:lnTo>
                <a:lnTo>
                  <a:pt x="5834178" y="5834178"/>
                </a:lnTo>
                <a:lnTo>
                  <a:pt x="0" y="583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658886"/>
            <a:ext cx="18288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597990"/>
                </a:solidFill>
                <a:latin typeface="Biryani Bold"/>
                <a:ea typeface="Biryani Bold"/>
                <a:cs typeface="Biryani Bold"/>
                <a:sym typeface="Biryani Bold"/>
              </a:rPr>
              <a:t> MEET THE HUMAN REVIEWER BURIED UNDER A THOUSAND PAGES OF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92449" y="4541932"/>
            <a:ext cx="6434868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  <a:spcBef>
                <a:spcPct val="0"/>
              </a:spcBef>
            </a:pPr>
            <a:r>
              <a:rPr lang="en-US" sz="3265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A CLINICAL REVIEWER’S WORLD IS A STACK OF ENDLESS PAGES, EACH ONE DEMANDING CAREFUL ATTENTION. THIS IS THE MANUAL MOUNTAIN.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7861" y="3180216"/>
            <a:ext cx="6553799" cy="6553799"/>
          </a:xfrm>
          <a:custGeom>
            <a:avLst/>
            <a:gdLst/>
            <a:ahLst/>
            <a:cxnLst/>
            <a:rect r="r" b="b" t="t" l="l"/>
            <a:pathLst>
              <a:path h="6553799" w="6553799">
                <a:moveTo>
                  <a:pt x="0" y="0"/>
                </a:moveTo>
                <a:lnTo>
                  <a:pt x="6553799" y="0"/>
                </a:lnTo>
                <a:lnTo>
                  <a:pt x="6553799" y="6553799"/>
                </a:lnTo>
                <a:lnTo>
                  <a:pt x="0" y="655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91572"/>
            <a:ext cx="18288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IT IS 04:00 AM, AND MANUAL HUMAN READING SIMPLY CANNOT SCALE AGAINST THE BACKLOG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54008" y="4734334"/>
            <a:ext cx="7160144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IT’S 4:00 AM. HER SHIFT HAS BEEN NONSTOP, YET ONLY FEW CLAIMS ARE DONE. THE CLOCK RUNS OUT, BUT THE BACKLOG DOESN’T.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1144" y="2979518"/>
            <a:ext cx="5831373" cy="5976070"/>
          </a:xfrm>
          <a:custGeom>
            <a:avLst/>
            <a:gdLst/>
            <a:ahLst/>
            <a:cxnLst/>
            <a:rect r="r" b="b" t="t" l="l"/>
            <a:pathLst>
              <a:path h="5976070" w="5831373">
                <a:moveTo>
                  <a:pt x="0" y="0"/>
                </a:moveTo>
                <a:lnTo>
                  <a:pt x="5831373" y="0"/>
                </a:lnTo>
                <a:lnTo>
                  <a:pt x="5831373" y="5976070"/>
                </a:lnTo>
                <a:lnTo>
                  <a:pt x="0" y="5976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" t="-1452" r="0" b="-14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92970"/>
            <a:ext cx="18288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INTRODUCING MEDICAL AI REVIEWER — KEEPING HUMAN INSIGHT WHILE REMOVING THE LONG SEARCH.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0879" y="3598739"/>
            <a:ext cx="7824019" cy="51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SO WE ASKED: WHAT IF READING THE WHOLE RECORD WASN’T ON THE NURSE’S PLATE? </a:t>
            </a:r>
          </a:p>
          <a:p>
            <a:pPr algn="l">
              <a:lnSpc>
                <a:spcPts val="4511"/>
              </a:lnSpc>
              <a:spcBef>
                <a:spcPct val="0"/>
              </a:spcBef>
            </a:pPr>
          </a:p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MEDICAL AI REVIEWER ABSORBS IT ALL, HIGHLIGHTS WHAT MATTERS, AND DELIVERS A CLEAN, CITED SUMMARY.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6456" y="3053875"/>
            <a:ext cx="5690960" cy="5690960"/>
          </a:xfrm>
          <a:custGeom>
            <a:avLst/>
            <a:gdLst/>
            <a:ahLst/>
            <a:cxnLst/>
            <a:rect r="r" b="b" t="t" l="l"/>
            <a:pathLst>
              <a:path h="5690960" w="5690960">
                <a:moveTo>
                  <a:pt x="0" y="0"/>
                </a:moveTo>
                <a:lnTo>
                  <a:pt x="5690959" y="0"/>
                </a:lnTo>
                <a:lnTo>
                  <a:pt x="5690959" y="5690960"/>
                </a:lnTo>
                <a:lnTo>
                  <a:pt x="0" y="569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962" y="1502185"/>
            <a:ext cx="173640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A 70% FASTER WORKFLOW WRAPS THE ENTIRE BACKLOG BY 04:00 PM.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38707" y="4308792"/>
            <a:ext cx="5693238" cy="330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8"/>
              </a:lnSpc>
              <a:spcBef>
                <a:spcPct val="0"/>
              </a:spcBef>
            </a:pPr>
            <a:r>
              <a:rPr lang="en-US" sz="3623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FIVE CLAIMS A DAY BECOMES FIFTEEN. A 70% QUICKER REVIEW FLOW GIVES HER TIME BACK FOR REAL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1179" y="1691693"/>
            <a:ext cx="8148504" cy="37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45"/>
              </a:lnSpc>
              <a:spcBef>
                <a:spcPct val="0"/>
              </a:spcBef>
            </a:pPr>
            <a:r>
              <a:rPr lang="en-US" sz="14445" strike="noStrike" u="none">
                <a:solidFill>
                  <a:srgbClr val="597990"/>
                </a:solidFill>
                <a:latin typeface="Alfa Slab One"/>
                <a:ea typeface="Alfa Slab One"/>
                <a:cs typeface="Alfa Slab One"/>
                <a:sym typeface="Alfa Slab One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61070" y="3846616"/>
            <a:ext cx="7303887" cy="6270135"/>
          </a:xfrm>
          <a:custGeom>
            <a:avLst/>
            <a:gdLst/>
            <a:ahLst/>
            <a:cxnLst/>
            <a:rect r="r" b="b" t="t" l="l"/>
            <a:pathLst>
              <a:path h="6270135" w="7303887">
                <a:moveTo>
                  <a:pt x="0" y="0"/>
                </a:moveTo>
                <a:lnTo>
                  <a:pt x="7303886" y="0"/>
                </a:lnTo>
                <a:lnTo>
                  <a:pt x="7303886" y="6270136"/>
                </a:lnTo>
                <a:lnTo>
                  <a:pt x="0" y="627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2774" y="4909478"/>
            <a:ext cx="8286443" cy="4008567"/>
          </a:xfrm>
          <a:custGeom>
            <a:avLst/>
            <a:gdLst/>
            <a:ahLst/>
            <a:cxnLst/>
            <a:rect r="r" b="b" t="t" l="l"/>
            <a:pathLst>
              <a:path h="4008567" w="8286443">
                <a:moveTo>
                  <a:pt x="0" y="0"/>
                </a:moveTo>
                <a:lnTo>
                  <a:pt x="8286442" y="0"/>
                </a:lnTo>
                <a:lnTo>
                  <a:pt x="8286442" y="4008566"/>
                </a:lnTo>
                <a:lnTo>
                  <a:pt x="0" y="400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64984" y="820120"/>
            <a:ext cx="2783789" cy="1842946"/>
          </a:xfrm>
          <a:custGeom>
            <a:avLst/>
            <a:gdLst/>
            <a:ahLst/>
            <a:cxnLst/>
            <a:rect r="r" b="b" t="t" l="l"/>
            <a:pathLst>
              <a:path h="1842946" w="2783789">
                <a:moveTo>
                  <a:pt x="0" y="0"/>
                </a:moveTo>
                <a:lnTo>
                  <a:pt x="2783789" y="0"/>
                </a:lnTo>
                <a:lnTo>
                  <a:pt x="2783789" y="1842946"/>
                </a:lnTo>
                <a:lnTo>
                  <a:pt x="0" y="184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DAHOlPWULz8</dc:identifier>
  <dcterms:modified xsi:type="dcterms:W3CDTF">2011-08-01T06:04:30Z</dcterms:modified>
  <cp:revision>1</cp:revision>
  <dc:title>Visual Scene Description: Close-up on a smartphone screen resting on a dark nightstand. The time reads 6:15 AM. A generic alarm rings aggressively. In the background, out of focus, Maya pulls blankets over her head. Voiceover Narration: "Maya didn't hate</dc:title>
</cp:coreProperties>
</file>